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60" r:id="rId4"/>
    <p:sldId id="259" r:id="rId5"/>
    <p:sldId id="262" r:id="rId6"/>
    <p:sldId id="269" r:id="rId7"/>
    <p:sldId id="271" r:id="rId8"/>
    <p:sldId id="263" r:id="rId9"/>
    <p:sldId id="264" r:id="rId10"/>
    <p:sldId id="265" r:id="rId11"/>
    <p:sldId id="272" r:id="rId12"/>
    <p:sldId id="273" r:id="rId13"/>
    <p:sldId id="274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63" autoAdjust="0"/>
    <p:restoredTop sz="94660"/>
  </p:normalViewPr>
  <p:slideViewPr>
    <p:cSldViewPr snapToGrid="0">
      <p:cViewPr varScale="1">
        <p:scale>
          <a:sx n="67" d="100"/>
          <a:sy n="67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FCD4C-636E-4676-A36E-E78AC2CCFA7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E7A3B-1EE1-4EA0-AF32-E60F460E7D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800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7A3B-1EE1-4EA0-AF32-E60F460E7DB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5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7A3B-1EE1-4EA0-AF32-E60F460E7DB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21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7A3B-1EE1-4EA0-AF32-E60F460E7DB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896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E7A3B-1EE1-4EA0-AF32-E60F460E7DB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4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3504-D0C0-6D56-DBC0-22CC19EB5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C18AA-1268-3AC7-18D1-54275F597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AFF4-B606-B2F1-7D43-8040AD85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9AA94-95FC-5E7A-0ADC-73BB54AB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585BB-61DB-F6E2-71BB-E9A759BC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4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24E4-BD61-E58F-0B0C-52FF7FAD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EFD9-A47C-6ACA-BD98-3097125F9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A161E-2D7A-6DD7-1827-F0031032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C0F5C-D849-B4FF-B0C8-B124541F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CAB4-4117-2F37-5536-647DC04A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80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9108-D848-8D08-4F46-CE7442C6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E4685-6059-BA25-C9AE-8BDDDCD38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1AFC2-C4BD-E780-FA59-4634D86F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41685-05B1-781C-5DD8-7EA04CB0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603DD-11A0-1FE9-33DE-E0642F54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6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14DB-E277-2411-41BA-EF5F2F38C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914BF-F37E-3D03-7EB0-B44D67C79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E0CA-D6C5-6CA6-B41A-E15E13C5B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E0D94-EA65-75C5-D39A-55314654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74EC1-29A1-7F68-4E56-24F901AA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C4484-5AD1-8053-43ED-68500B38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8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3744-1B96-3751-0399-93DF4B5A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79106-A031-3D8C-497C-39ECF8EC2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71F36-DC5B-D310-104B-A84D69F8C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E0CC9-C9B8-2C8B-AEBC-4C5776803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4F51E-A061-C5EB-8B6C-BDD35C304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D10A8-59C5-69FD-A87F-C1E9AAAC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E3EC7-AE79-125F-B2F7-E2DCB59D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2D1D4-11E7-A57F-B909-297C537B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5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74F1-AB9D-9D6B-5065-F615DBA9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04191-7C95-8BB3-6DD3-7A569F8C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F99B7-E0A9-5619-E3BA-2059D2DB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69C60-3CBD-DB3C-386C-611CD143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49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6E1B63-8EDB-E0B7-A00A-35DBD24F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8EFF3-33BB-B74A-F956-E527DB20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A4C1-9496-F149-FA0E-09C85E82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89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6AF2-C9C9-F772-92DA-41CA15FB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2C23-491E-59EF-0129-6E20BED69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4708B-5074-230D-476A-CA9F3FD9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8F52E-23EB-ED0F-6026-440CE730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AF0FB-10FF-0F46-B614-1CF83CE7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6B828-9C7E-8882-949C-6124AF7B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50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8182-1B89-B93E-2330-1DC78B0C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33DDB-1EF9-E6A0-E39F-312A61D6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DEF9E-6EEC-B30C-BAEC-E07E07CED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48135-2B43-8483-55C2-004130F5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F05E9-2E4D-5DA5-EBA6-45DDC23E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861B1-09D1-0800-D8D8-A38B5A92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0CCC-48C1-A4CC-BA0E-AA0ED58B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2E89C-A430-D2A9-77BB-57176DF18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3BA27-02EF-EB1B-C90C-D9DE8945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86E9E-0163-B257-C4B2-7FD7E59D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F226-BFB5-8AF4-D82C-0E8ED6F9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8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BEB0AB-0DD6-E22C-E216-CA7BB8274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C77E4-EDF9-CFA7-F30C-4EBD00AAD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742F-5AD2-425B-B453-9C245C7A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72CA3-093D-F567-FC75-377958A4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66B0-D8AF-13E3-EB3D-66AC8875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5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4BE747-F1EC-6FF5-FB30-84D1280A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F252-6A49-7825-FFF4-53AF0119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E787-C2C4-B529-DCA0-ADBB1DCDA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EBD59-1356-4004-B39D-704AFC776BF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86B0-0136-2C0F-7BF6-96AE4B99A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5F816-F2A1-9EA6-A60D-9E2631D3C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B660D-B705-433F-8D25-470C465C5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9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ngston.com/en/blog/pc-performance/ddr5-overview" TargetMode="External"/><Relationship Id="rId2" Type="http://schemas.openxmlformats.org/officeDocument/2006/relationships/hyperlink" Target="https://techreport.com/news/31673/ddr5-will-boost-bandwidth-and-lower-power-consump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Kingston_Technology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A090-DF30-9692-ED35-22AE191EA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065" y="954455"/>
            <a:ext cx="9144000" cy="213333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Bell MT" panose="02020503060305020303" pitchFamily="18" charset="0"/>
              </a:rPr>
              <a:t>CENTER FOR VLSI DESIGN</a:t>
            </a:r>
            <a:br>
              <a:rPr lang="en-IN" sz="2400" b="1" dirty="0">
                <a:latin typeface="Bell MT" panose="02020503060305020303" pitchFamily="18" charset="0"/>
              </a:rPr>
            </a:br>
            <a:br>
              <a:rPr lang="en-IN" sz="2400" b="1" dirty="0">
                <a:latin typeface="Bell MT" panose="02020503060305020303" pitchFamily="18" charset="0"/>
              </a:rPr>
            </a:br>
            <a:r>
              <a:rPr lang="en-US" sz="2800" b="1" dirty="0">
                <a:latin typeface="Bell MT" panose="02020503060305020303" pitchFamily="18" charset="0"/>
              </a:rPr>
              <a:t>RTL IMPLEMENTATION OF BASIC DDR5 MEMORY READ &amp; WRITE CONTROLLER</a:t>
            </a:r>
            <a:endParaRPr lang="en-IN" sz="2800" b="1" dirty="0">
              <a:latin typeface="Bell MT" panose="0202050306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A10F9-0943-2797-8F83-E20A527E5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64434" y="3460801"/>
            <a:ext cx="11183815" cy="394900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Bell MT" panose="02020503060305020303" pitchFamily="18" charset="0"/>
              </a:rPr>
              <a:t> </a:t>
            </a:r>
            <a:r>
              <a:rPr lang="en-IN" sz="2000" b="1" dirty="0">
                <a:latin typeface="Bell MT" panose="02020503060305020303" pitchFamily="18" charset="0"/>
              </a:rPr>
              <a:t>Presented By :</a:t>
            </a:r>
          </a:p>
          <a:p>
            <a:endParaRPr lang="en-IN" sz="2000" b="1" dirty="0">
              <a:latin typeface="Bell MT" panose="02020503060305020303" pitchFamily="18" charset="0"/>
            </a:endParaRPr>
          </a:p>
          <a:p>
            <a:r>
              <a:rPr lang="en-IN" sz="2000" dirty="0">
                <a:latin typeface="Bell MT" panose="02020503060305020303" pitchFamily="18" charset="0"/>
              </a:rPr>
              <a:t>        24211A0418      Avula Hasini Priya</a:t>
            </a:r>
          </a:p>
          <a:p>
            <a:r>
              <a:rPr lang="en-IN" sz="2000" dirty="0">
                <a:latin typeface="Bell MT" panose="02020503060305020303" pitchFamily="18" charset="0"/>
              </a:rPr>
              <a:t>          24211A0434      </a:t>
            </a:r>
            <a:r>
              <a:rPr lang="en-IN" sz="2000" dirty="0" err="1">
                <a:latin typeface="Bell MT" panose="02020503060305020303" pitchFamily="18" charset="0"/>
              </a:rPr>
              <a:t>Bemalkhed</a:t>
            </a:r>
            <a:r>
              <a:rPr lang="en-IN" sz="2000" dirty="0">
                <a:latin typeface="Bell MT" panose="02020503060305020303" pitchFamily="18" charset="0"/>
              </a:rPr>
              <a:t> Anushka</a:t>
            </a:r>
          </a:p>
          <a:p>
            <a:r>
              <a:rPr lang="en-IN" sz="2000" dirty="0">
                <a:latin typeface="Bell MT" panose="02020503060305020303" pitchFamily="18" charset="0"/>
              </a:rPr>
              <a:t>         24211A0463      Dinne </a:t>
            </a:r>
            <a:r>
              <a:rPr lang="en-IN" sz="2000" dirty="0" err="1">
                <a:latin typeface="Bell MT" panose="02020503060305020303" pitchFamily="18" charset="0"/>
              </a:rPr>
              <a:t>Manideepika</a:t>
            </a:r>
            <a:endParaRPr lang="en-IN" sz="2000" dirty="0">
              <a:latin typeface="Bell MT" panose="02020503060305020303" pitchFamily="18" charset="0"/>
            </a:endParaRPr>
          </a:p>
          <a:p>
            <a:r>
              <a:rPr lang="en-IN" sz="2000" dirty="0">
                <a:latin typeface="Bell MT" panose="02020503060305020303" pitchFamily="18" charset="0"/>
              </a:rPr>
              <a:t>                     25215A0401      </a:t>
            </a:r>
            <a:r>
              <a:rPr lang="en-IN" sz="2000" dirty="0" err="1">
                <a:latin typeface="Bell MT" panose="02020503060305020303" pitchFamily="18" charset="0"/>
              </a:rPr>
              <a:t>Dadapuram</a:t>
            </a:r>
            <a:r>
              <a:rPr lang="en-IN" sz="2000" dirty="0">
                <a:latin typeface="Bell MT" panose="02020503060305020303" pitchFamily="18" charset="0"/>
              </a:rPr>
              <a:t> Akshay Reddy</a:t>
            </a:r>
          </a:p>
        </p:txBody>
      </p:sp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DC7C6B96-7E81-0B0F-C3D1-F738B13055D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049" y="-161365"/>
            <a:ext cx="9355016" cy="19363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C9A4A6-6BBC-627C-93CA-AFAF4F455FE1}"/>
              </a:ext>
            </a:extLst>
          </p:cNvPr>
          <p:cNvSpPr txBox="1"/>
          <p:nvPr/>
        </p:nvSpPr>
        <p:spPr>
          <a:xfrm>
            <a:off x="7353620" y="3460801"/>
            <a:ext cx="78369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Bell MT" panose="02020503060305020303" pitchFamily="18" charset="0"/>
              </a:rPr>
              <a:t>Guided by:</a:t>
            </a:r>
          </a:p>
          <a:p>
            <a:endParaRPr lang="en-US" sz="2000" dirty="0">
              <a:latin typeface="Bell MT" panose="02020503060305020303" pitchFamily="18" charset="0"/>
            </a:endParaRPr>
          </a:p>
          <a:p>
            <a:r>
              <a:rPr lang="en-US" sz="2000" dirty="0" err="1">
                <a:latin typeface="Bell MT" panose="02020503060305020303" pitchFamily="18" charset="0"/>
              </a:rPr>
              <a:t>Dr.U</a:t>
            </a:r>
            <a:r>
              <a:rPr lang="en-US" sz="2000" dirty="0">
                <a:latin typeface="Bell MT" panose="02020503060305020303" pitchFamily="18" charset="0"/>
              </a:rPr>
              <a:t>. </a:t>
            </a:r>
            <a:r>
              <a:rPr lang="en-US" sz="2000" dirty="0" err="1">
                <a:latin typeface="Bell MT" panose="02020503060305020303" pitchFamily="18" charset="0"/>
              </a:rPr>
              <a:t>Gnaneshwara</a:t>
            </a:r>
            <a:r>
              <a:rPr lang="en-US" sz="2000" dirty="0">
                <a:latin typeface="Bell MT" panose="02020503060305020303" pitchFamily="18" charset="0"/>
              </a:rPr>
              <a:t> Chary , </a:t>
            </a:r>
            <a:r>
              <a:rPr lang="en-US" sz="2000" dirty="0" err="1">
                <a:latin typeface="Bell MT" panose="02020503060305020303" pitchFamily="18" charset="0"/>
              </a:rPr>
              <a:t>M.Tech</a:t>
            </a:r>
            <a:r>
              <a:rPr lang="en-US" sz="2000" dirty="0">
                <a:latin typeface="Bell MT" panose="02020503060305020303" pitchFamily="18" charset="0"/>
              </a:rPr>
              <a:t>, </a:t>
            </a:r>
            <a:r>
              <a:rPr lang="en-US" sz="2000" dirty="0" err="1">
                <a:latin typeface="Bell MT" panose="02020503060305020303" pitchFamily="18" charset="0"/>
              </a:rPr>
              <a:t>Ph.D</a:t>
            </a:r>
            <a:br>
              <a:rPr lang="en-US" sz="2000" dirty="0">
                <a:latin typeface="Bell MT" panose="02020503060305020303" pitchFamily="18" charset="0"/>
              </a:rPr>
            </a:br>
            <a:r>
              <a:rPr lang="en-US" sz="2000" dirty="0">
                <a:latin typeface="Bell MT" panose="02020503060305020303" pitchFamily="18" charset="0"/>
              </a:rPr>
              <a:t>Assistant Professor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90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F580-38AE-B8FB-359D-447ED95A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Bell MT" panose="02020503060305020303" pitchFamily="18" charset="0"/>
              </a:rPr>
              <a:t>AIM OF THE PROJECT </a:t>
            </a:r>
            <a:r>
              <a:rPr lang="en-US" sz="4800" b="1" dirty="0"/>
              <a:t>: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A4F96-DB8F-4AAF-1888-E9A53FDD2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11" y="2623858"/>
            <a:ext cx="1100880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To design a simple RTL-based controller that demonstrates how DDR5 performs basic read and write operations without involving the full complexity of commercial memory controllers</a:t>
            </a:r>
            <a:r>
              <a:rPr 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9103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9CC8-31F0-0583-E8AD-34B085F1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4" y="-223102"/>
            <a:ext cx="11664556" cy="108081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ell MT" panose="02020503060305020303" pitchFamily="18" charset="0"/>
              </a:rPr>
              <a:t>INTRODUCTION :</a:t>
            </a:r>
            <a:br>
              <a:rPr lang="en-US" sz="2800" b="1" dirty="0">
                <a:latin typeface="Bell MT" panose="02020503060305020303" pitchFamily="18" charset="0"/>
              </a:rPr>
            </a:br>
            <a:endParaRPr lang="en-IN" sz="2000" b="1" dirty="0">
              <a:latin typeface="Bell MT" panose="020205030603050203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9F770E-1815-E3E8-160C-57881976FE0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83478" y="2066839"/>
            <a:ext cx="10328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9613B4E-9B66-DB39-A40B-87DA08A8F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971" y="4092436"/>
            <a:ext cx="5117960" cy="276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3EB3C-B9CB-1472-ADBC-63B95623F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4" y="3895755"/>
            <a:ext cx="5904648" cy="2962245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92CE80F-7D0C-3023-D210-0A4A58A0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44" y="667314"/>
            <a:ext cx="1123484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Bell MT" panose="02020503060305020303" pitchFamily="18" charset="0"/>
              </a:rPr>
              <a:t>DDR5 is the latest generation of DRAM designed to provide much higher speed, efficiency, and performance compared to previous DDR memory technologies.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It uses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dual 32-bit channels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instead of a single 64-bit channel, allowing faster and more flexible data transfers.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DDR5 supports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higher data rates (up to 8400 MT/s and beyond),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making it ideal for AI, servers, gaming, and high-performance computing.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It includes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on-die ECC and on-DIMM power management (PMIC)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to improve reliability and power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DDR5 increases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bandwidth, capacity, and parallelism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through features like BL16 burst length and 32 memory banks.</a:t>
            </a:r>
          </a:p>
        </p:txBody>
      </p:sp>
    </p:spTree>
    <p:extLst>
      <p:ext uri="{BB962C8B-B14F-4D97-AF65-F5344CB8AC3E}">
        <p14:creationId xmlns:p14="http://schemas.microsoft.com/office/powerpoint/2010/main" val="140838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1D7D-231F-5D34-E6FF-6580DE03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PROBLEM  STATEMENT 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90E24-0F67-E310-E8AC-171DD77F4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Bell MT" panose="02020503060305020303" pitchFamily="18" charset="0"/>
              </a:rPr>
              <a:t>Understanding DDR5’s real read/write flow is challenging due to its high-speed commands and tight timing rules.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The problem is to build a practical and accurate representation of how DDR5 handles data during read and write operations, making the internal process clear and accessible.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74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8036-B0AB-0F17-E024-87FFD783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OBJECTIVES</a:t>
            </a:r>
            <a:r>
              <a:rPr lang="en-US" b="1" dirty="0"/>
              <a:t> 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F4C49-C72D-B047-8EF6-37BC33F6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1. To design RTL modules that implement DDR5 SDRAM Read and Write operations.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2. To implement the necessary command and control sequencing in RTL.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24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DE39-2FE6-18D4-BA61-BC074AD8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Literature Survey</a:t>
            </a:r>
            <a:endParaRPr lang="en-IN" b="1" dirty="0">
              <a:latin typeface="Bell MT" panose="020205030603050203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C6F0EB-874A-3D6B-C257-80C2CE0FB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816576"/>
              </p:ext>
            </p:extLst>
          </p:nvPr>
        </p:nvGraphicFramePr>
        <p:xfrm>
          <a:off x="582592" y="1384921"/>
          <a:ext cx="10771208" cy="5231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09">
                  <a:extLst>
                    <a:ext uri="{9D8B030D-6E8A-4147-A177-3AD203B41FA5}">
                      <a16:colId xmlns:a16="http://schemas.microsoft.com/office/drawing/2014/main" val="3980220330"/>
                    </a:ext>
                  </a:extLst>
                </a:gridCol>
                <a:gridCol w="2125301">
                  <a:extLst>
                    <a:ext uri="{9D8B030D-6E8A-4147-A177-3AD203B41FA5}">
                      <a16:colId xmlns:a16="http://schemas.microsoft.com/office/drawing/2014/main" val="1547372181"/>
                    </a:ext>
                  </a:extLst>
                </a:gridCol>
                <a:gridCol w="1088260">
                  <a:extLst>
                    <a:ext uri="{9D8B030D-6E8A-4147-A177-3AD203B41FA5}">
                      <a16:colId xmlns:a16="http://schemas.microsoft.com/office/drawing/2014/main" val="4172823844"/>
                    </a:ext>
                  </a:extLst>
                </a:gridCol>
                <a:gridCol w="1581634">
                  <a:extLst>
                    <a:ext uri="{9D8B030D-6E8A-4147-A177-3AD203B41FA5}">
                      <a16:colId xmlns:a16="http://schemas.microsoft.com/office/drawing/2014/main" val="2735940037"/>
                    </a:ext>
                  </a:extLst>
                </a:gridCol>
                <a:gridCol w="2549303">
                  <a:extLst>
                    <a:ext uri="{9D8B030D-6E8A-4147-A177-3AD203B41FA5}">
                      <a16:colId xmlns:a16="http://schemas.microsoft.com/office/drawing/2014/main" val="240237786"/>
                    </a:ext>
                  </a:extLst>
                </a:gridCol>
                <a:gridCol w="2844501">
                  <a:extLst>
                    <a:ext uri="{9D8B030D-6E8A-4147-A177-3AD203B41FA5}">
                      <a16:colId xmlns:a16="http://schemas.microsoft.com/office/drawing/2014/main" val="674270430"/>
                    </a:ext>
                  </a:extLst>
                </a:gridCol>
              </a:tblGrid>
              <a:tr h="917725"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SI no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Title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Year of publication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Name of Journal/ authors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Existing design Description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Limitations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82866"/>
                  </a:ext>
                </a:extLst>
              </a:tr>
              <a:tr h="14683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dirty="0">
                          <a:latin typeface="Bell MT" panose="02020503060305020303" pitchFamily="18" charset="0"/>
                        </a:rPr>
                        <a:t>"Next-generation DDR5 RAM will double the speed of DDR4 in 2018"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March 31, 2017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Cunningham, Andrew 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It is built using high-density memory cell arrays integrated on silicon for efficient read and write operations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mainly discusses future expectations, so it lacks clarity on real-world challenges in achieving those projected speeds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110779"/>
                  </a:ext>
                </a:extLst>
              </a:tr>
              <a:tr h="174367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</a:t>
                      </a:r>
                      <a:r>
                        <a:rPr lang="en-US" dirty="0">
                          <a:latin typeface="Bell MT" panose="02020503060305020303" pitchFamily="18" charset="0"/>
                        </a:rPr>
                        <a:t>DDR5 Memory Standard: An introduction to the next generation of DRAM module technology</a:t>
                      </a:r>
                      <a:r>
                        <a:rPr lang="en-US" dirty="0"/>
                        <a:t>"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January 2024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ell MT" panose="02020503060305020303" pitchFamily="18" charset="0"/>
                        </a:rPr>
                        <a:t>Kingston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Explains the finalized DDR5 standard focusing on PMIC integration and dual-channel DIMM architecture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ell MT" panose="02020503060305020303" pitchFamily="18" charset="0"/>
                        </a:rPr>
                        <a:t>focuses on features of the standard but does not address practical integration issues when using DDR5 in actual systems</a:t>
                      </a:r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833974"/>
                  </a:ext>
                </a:extLst>
              </a:tr>
              <a:tr h="3670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68150"/>
                  </a:ext>
                </a:extLst>
              </a:tr>
              <a:tr h="36709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820113"/>
                  </a:ext>
                </a:extLst>
              </a:tr>
              <a:tr h="36709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71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68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1804-E1CE-5D40-E882-65A4E467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365125"/>
            <a:ext cx="11978640" cy="1325563"/>
          </a:xfrm>
        </p:spPr>
        <p:txBody>
          <a:bodyPr/>
          <a:lstStyle/>
          <a:p>
            <a:r>
              <a:rPr lang="en-US" dirty="0">
                <a:latin typeface="Bell MT" panose="02020503060305020303" pitchFamily="18" charset="0"/>
              </a:rPr>
              <a:t>REVIEW COMMENTS BY PANEL MEMBERS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5782A-67F9-67F6-5BF9-CC1B6C682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23285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Based on the previous review, all the suggestions given by </a:t>
            </a:r>
            <a:r>
              <a:rPr lang="en-US">
                <a:latin typeface="Bell MT" panose="02020503060305020303" pitchFamily="18" charset="0"/>
              </a:rPr>
              <a:t>the panel members </a:t>
            </a:r>
            <a:r>
              <a:rPr lang="en-US" dirty="0">
                <a:latin typeface="Bell MT" panose="02020503060305020303" pitchFamily="18" charset="0"/>
              </a:rPr>
              <a:t>were carefully incorporated. The presentation now includes clearer architecture, better justification of design </a:t>
            </a:r>
            <a:r>
              <a:rPr lang="en-US" dirty="0" err="1">
                <a:latin typeface="Bell MT" panose="02020503060305020303" pitchFamily="18" charset="0"/>
              </a:rPr>
              <a:t>decisions,and</a:t>
            </a:r>
            <a:r>
              <a:rPr lang="en-US" dirty="0">
                <a:latin typeface="Bell MT" panose="02020503060305020303" pitchFamily="18" charset="0"/>
              </a:rPr>
              <a:t> updated performance analysis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4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5464E-31DB-7C5A-E1A3-4FC8A928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586" y="80386"/>
            <a:ext cx="9592828" cy="88927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Existing DDR (DDR1–DDR4) Read/Write Limitations</a:t>
            </a: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FE0407D-9BBA-CC0C-33A7-10232108872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689" y="1021266"/>
            <a:ext cx="5395808" cy="5021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Bell MT" panose="02020503060305020303" pitchFamily="18" charset="0"/>
              </a:rPr>
              <a:t>Single-channel &amp; fewer banks :</a:t>
            </a:r>
            <a:r>
              <a:rPr lang="en-IN" sz="2000" dirty="0"/>
              <a:t> </a:t>
            </a:r>
            <a:r>
              <a:rPr lang="en-IN" sz="2000" dirty="0">
                <a:latin typeface="Bell MT" panose="02020503060305020303" pitchFamily="18" charset="0"/>
              </a:rPr>
              <a:t>limited parallel reads/writes, high bank conflicts, and frequent stalls during operations.</a:t>
            </a:r>
          </a:p>
          <a:p>
            <a:endParaRPr lang="en-IN" sz="2000" dirty="0">
              <a:latin typeface="Bell MT" panose="02020503060305020303" pitchFamily="18" charset="0"/>
            </a:endParaRPr>
          </a:p>
          <a:p>
            <a:r>
              <a:rPr lang="en-IN" sz="2000" b="1" dirty="0">
                <a:latin typeface="Bell MT" panose="02020503060305020303" pitchFamily="18" charset="0"/>
              </a:rPr>
              <a:t>Small burst lengths (BL4/BL8) : </a:t>
            </a:r>
            <a:r>
              <a:rPr lang="en-IN" sz="2000" dirty="0">
                <a:latin typeface="Bell MT" panose="02020503060305020303" pitchFamily="18" charset="0"/>
              </a:rPr>
              <a:t>lower data throughput per command and inefficient utilization of high-speed buses.</a:t>
            </a:r>
          </a:p>
          <a:p>
            <a:endParaRPr lang="en-IN" sz="2000" dirty="0">
              <a:latin typeface="Bell MT" panose="02020503060305020303" pitchFamily="18" charset="0"/>
            </a:endParaRPr>
          </a:p>
          <a:p>
            <a:r>
              <a:rPr lang="en-IN" sz="2000" b="1" dirty="0">
                <a:latin typeface="Bell MT" panose="02020503060305020303" pitchFamily="18" charset="0"/>
              </a:rPr>
              <a:t>External power management &amp; no on-die ECC:</a:t>
            </a:r>
            <a:r>
              <a:rPr lang="en-IN" sz="2000" dirty="0">
                <a:latin typeface="Bell MT" panose="02020503060305020303" pitchFamily="18" charset="0"/>
              </a:rPr>
              <a:t> signal noise, timing instability, and higher error rates during high-speed read/write transfers.</a:t>
            </a:r>
          </a:p>
          <a:p>
            <a:endParaRPr lang="en-IN" sz="2000" dirty="0">
              <a:latin typeface="Bell MT" panose="02020503060305020303" pitchFamily="18" charset="0"/>
            </a:endParaRPr>
          </a:p>
          <a:p>
            <a:r>
              <a:rPr lang="en-IN" sz="2000" b="1" dirty="0">
                <a:latin typeface="Bell MT" panose="02020503060305020303" pitchFamily="18" charset="0"/>
              </a:rPr>
              <a:t>Blocking refresh &amp; basic training : </a:t>
            </a:r>
            <a:r>
              <a:rPr lang="en-IN" sz="2000" dirty="0">
                <a:latin typeface="Bell MT" panose="02020503060305020303" pitchFamily="18" charset="0"/>
              </a:rPr>
              <a:t>read/write pauses during refresh cycles and reduced reliability at multi-gigabit speeds.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97A5AA0-AEB1-ABD0-EF65-00C686337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6787" y="987425"/>
            <a:ext cx="5153157" cy="545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6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0615-A275-3C81-5488-E515E4BE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820" y="-156434"/>
            <a:ext cx="5833242" cy="96966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ell MT" panose="02020503060305020303" pitchFamily="18" charset="0"/>
              </a:rPr>
              <a:t>PROPOSED SOLUTION 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C63A49-39A3-1FE5-327A-5E920204386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61258" y="1608705"/>
            <a:ext cx="492193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Build a minimalistic RTL controller focusing only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Accepting read/write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Generating basic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Sending addresses and capturing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Implementing a clean FSM for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Provide a structure that can be extended later to include refresh, banks, or burst-length variations.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DCF3E2-CDCC-1B5C-BA0E-D39F1B93D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ED2DA5-8EC5-07B6-492E-50D3EDFE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512" y="915858"/>
            <a:ext cx="7058882" cy="50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58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0E4B-FC95-AE8B-1171-5F1FE355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TOOLS :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FC1263-A2EE-0213-B1DE-9D9C3A505B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4004"/>
            <a:ext cx="78038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Xilinx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Vivado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for design entry, RTL coding, and simulation.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Verilog HDL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for writing the controller logic and FSMs.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Waveform Analyzer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Vivado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ModelSim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for verifying read/write sequences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0467CC-5716-65BE-CD7C-288FC61E1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695" y="3429000"/>
            <a:ext cx="5056416" cy="277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0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C0BF-6B6D-A23E-E194-64C092A1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Results </a:t>
            </a:r>
            <a:br>
              <a:rPr lang="en-US" b="1" dirty="0">
                <a:latin typeface="Bell MT" panose="02020503060305020303" pitchFamily="18" charset="0"/>
              </a:rPr>
            </a:br>
            <a:r>
              <a:rPr lang="en-US" sz="2800" b="1" dirty="0">
                <a:latin typeface="Bell MT" panose="02020503060305020303" pitchFamily="18" charset="0"/>
              </a:rPr>
              <a:t>RTL SIMULATION OUTPUT</a:t>
            </a:r>
            <a:endParaRPr lang="en-IN" sz="2800" b="1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167A69-B1FB-0614-6BFA-42FC55EED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847" y="1825625"/>
            <a:ext cx="75023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52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12E7-B192-A973-BF4D-77CB798D9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832" y="264541"/>
            <a:ext cx="10515600" cy="1325563"/>
          </a:xfrm>
        </p:spPr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RTL SCHEMATIC VIEW</a:t>
            </a:r>
            <a:endParaRPr lang="en-IN" b="1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39CF5A-05C2-D3E8-166B-59B2D587F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005" y="1690688"/>
            <a:ext cx="74621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8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B732-AFFD-FB53-17C6-AB86F009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90" y="260350"/>
            <a:ext cx="10515600" cy="1325563"/>
          </a:xfrm>
        </p:spPr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SYNTHESIS OUTPUT</a:t>
            </a:r>
            <a:endParaRPr lang="en-IN" b="1" dirty="0">
              <a:latin typeface="Bell MT" panose="020205030603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CC3301-9D77-3065-A26D-9FDF7CCB3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8790" y="1825625"/>
            <a:ext cx="74144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0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B34D-6E49-B5BD-1B1B-6FA4F737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REFERENCES :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20F6FF-1E32-107F-6D0A-277DBCD9AE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0207" y="1999611"/>
            <a:ext cx="11004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Bell MT" panose="02020503060305020303" pitchFamily="18" charset="0"/>
              </a:rPr>
              <a:t>Liu, </a:t>
            </a:r>
            <a:r>
              <a:rPr lang="en-US" sz="1800" dirty="0" err="1">
                <a:latin typeface="Bell MT" panose="02020503060305020303" pitchFamily="18" charset="0"/>
              </a:rPr>
              <a:t>Zhiye</a:t>
            </a:r>
            <a:r>
              <a:rPr lang="en-US" sz="1800" dirty="0">
                <a:latin typeface="Bell MT" panose="02020503060305020303" pitchFamily="18" charset="0"/>
              </a:rPr>
              <a:t> (July 15, 2020). "DDR5 Specification Released: Fast RAM With Built-In Voltage Regulators"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03A44-8AC7-C6C6-0BE6-FED9631C9C26}"/>
              </a:ext>
            </a:extLst>
          </p:cNvPr>
          <p:cNvSpPr txBox="1"/>
          <p:nvPr/>
        </p:nvSpPr>
        <p:spPr>
          <a:xfrm>
            <a:off x="210207" y="1506022"/>
            <a:ext cx="11309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Bell MT" panose="02020503060305020303" pitchFamily="18" charset="0"/>
              </a:rPr>
              <a:t>Cunningham, Andrew (March 31, 2017).” Next generation DDR5 RAM will double the speed of DDR4 in 2018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” 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619F4-C07F-DA5B-90DE-F7896524EF83}"/>
              </a:ext>
            </a:extLst>
          </p:cNvPr>
          <p:cNvSpPr txBox="1"/>
          <p:nvPr/>
        </p:nvSpPr>
        <p:spPr>
          <a:xfrm>
            <a:off x="210207" y="2493200"/>
            <a:ext cx="8933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Bell MT" panose="02020503060305020303" pitchFamily="18" charset="0"/>
              </a:rPr>
              <a:t>Dr. Ian Cutress (October 6, 2020). </a:t>
            </a:r>
            <a:r>
              <a:rPr lang="en-US" u="sng" dirty="0">
                <a:solidFill>
                  <a:srgbClr val="233566"/>
                </a:solidFill>
                <a:latin typeface="Bell MT" panose="02020503060305020303" pitchFamily="18" charset="0"/>
              </a:rPr>
              <a:t>"Insights into DDR5 Sub-timings and Latencies"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E19FA-CF77-1894-BD52-EC15DE7B49D0}"/>
              </a:ext>
            </a:extLst>
          </p:cNvPr>
          <p:cNvSpPr txBox="1"/>
          <p:nvPr/>
        </p:nvSpPr>
        <p:spPr>
          <a:xfrm>
            <a:off x="210207" y="3108462"/>
            <a:ext cx="9827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Bell MT" panose="02020503060305020303" pitchFamily="18" charset="0"/>
              </a:rPr>
              <a:t>Manion, Wayne (March 31, 2017). </a:t>
            </a:r>
            <a:r>
              <a:rPr lang="en-US" b="0" i="0" u="sng" dirty="0">
                <a:solidFill>
                  <a:srgbClr val="233566"/>
                </a:solidFill>
                <a:effectLst/>
                <a:latin typeface="Bell MT" panose="02020503060305020303" pitchFamily="18" charset="0"/>
                <a:hlinkClick r:id="rId2"/>
              </a:rPr>
              <a:t>"DDR5 will boost bandwidth and lower power consumption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C0A21-8C3A-2524-82EC-BBA9EFA4614B}"/>
              </a:ext>
            </a:extLst>
          </p:cNvPr>
          <p:cNvSpPr txBox="1"/>
          <p:nvPr/>
        </p:nvSpPr>
        <p:spPr>
          <a:xfrm>
            <a:off x="210207" y="3602051"/>
            <a:ext cx="1237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233566"/>
                </a:solidFill>
                <a:effectLst/>
                <a:latin typeface="Bell MT" panose="02020503060305020303" pitchFamily="18" charset="0"/>
                <a:hlinkClick r:id="rId3"/>
              </a:rPr>
              <a:t>DDR5 Memory Standard: An introduction to the next generation of DRAM module technology"</a:t>
            </a:r>
            <a:r>
              <a:rPr lang="en-US" b="0" i="0" dirty="0">
                <a:solidFill>
                  <a:srgbClr val="202122"/>
                </a:solidFill>
                <a:effectLst/>
                <a:latin typeface="Bell MT" panose="02020503060305020303" pitchFamily="18" charset="0"/>
              </a:rPr>
              <a:t>.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Bell MT" panose="02020503060305020303" pitchFamily="18" charset="0"/>
                <a:hlinkClick r:id="rId4" tooltip="Kingston Technology"/>
              </a:rPr>
              <a:t>Kingston Technology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97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34DC-0CFC-AC8D-962D-15B71DE93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211" y="2636053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b="1" dirty="0">
                <a:latin typeface="Bell MT" panose="02020503060305020303" pitchFamily="18" charset="0"/>
              </a:rPr>
              <a:t>THANK YOU</a:t>
            </a:r>
            <a:endParaRPr lang="en-IN" sz="96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392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754</Words>
  <Application>Microsoft Office PowerPoint</Application>
  <PresentationFormat>Widescreen</PresentationFormat>
  <Paragraphs>92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Bell MT</vt:lpstr>
      <vt:lpstr>Office Theme</vt:lpstr>
      <vt:lpstr>CENTER FOR VLSI DESIGN  RTL IMPLEMENTATION OF BASIC DDR5 MEMORY READ &amp; WRITE CONTROLLER</vt:lpstr>
      <vt:lpstr>AIM OF THE PROJECT :</vt:lpstr>
      <vt:lpstr>INTRODUCTION : </vt:lpstr>
      <vt:lpstr>PROBLEM  STATEMENT :</vt:lpstr>
      <vt:lpstr>OBJECTIVES :</vt:lpstr>
      <vt:lpstr>Literature Survey</vt:lpstr>
      <vt:lpstr>REVIEW COMMENTS BY PANEL MEMBERS</vt:lpstr>
      <vt:lpstr>Existing DDR (DDR1–DDR4) Read/Write Limitations</vt:lpstr>
      <vt:lpstr>PROPOSED SOLUTION </vt:lpstr>
      <vt:lpstr>TOOLS :</vt:lpstr>
      <vt:lpstr>Results  RTL SIMULATION OUTPUT</vt:lpstr>
      <vt:lpstr>RTL SCHEMATIC VIEW</vt:lpstr>
      <vt:lpstr>SYNTHESIS OUTPUT</vt:lpstr>
      <vt:lpstr>REFERENCES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Avula Hasini Priya</dc:creator>
  <cp:lastModifiedBy>24211A0 463</cp:lastModifiedBy>
  <cp:revision>3</cp:revision>
  <dcterms:created xsi:type="dcterms:W3CDTF">2026-01-23T11:09:32Z</dcterms:created>
  <dcterms:modified xsi:type="dcterms:W3CDTF">2026-05-07T16:49:33Z</dcterms:modified>
</cp:coreProperties>
</file>